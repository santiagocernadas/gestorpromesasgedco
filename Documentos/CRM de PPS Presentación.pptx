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Nuni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11" Type="http://schemas.openxmlformats.org/officeDocument/2006/relationships/slide" Target="slides/slide6.xml"/><Relationship Id="rId22" Type="http://schemas.openxmlformats.org/officeDocument/2006/relationships/font" Target="fonts/Nunito-italic.fntdata"/><Relationship Id="rId10" Type="http://schemas.openxmlformats.org/officeDocument/2006/relationships/slide" Target="slides/slide5.xml"/><Relationship Id="rId21" Type="http://schemas.openxmlformats.org/officeDocument/2006/relationships/font" Target="fonts/Nuni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Nuni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9546bbabd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9546bbab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41a60e67e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41a60e67e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41a60e67e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941a60e67e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9546bbabd_0_9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c9546bbabd_0_9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c9546bbabd_0_9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c9546bbabd_0_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9546bbabd_0_10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c9546bbabd_0_1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4150ce65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94150ce65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4150ce65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94150ce65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4150ce65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94150ce65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ca8c347c1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ca8c347c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94305a0b0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94305a0b0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a8c347c1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ca8c347c1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94305a0b0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94305a0b0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SantiagoCernadas/GestorPromesasGedco/tree/main" TargetMode="External"/><Relationship Id="rId4" Type="http://schemas.openxmlformats.org/officeDocument/2006/relationships/image" Target="../media/image11.png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91353" y="19383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3B6183"/>
                </a:solidFill>
              </a:rPr>
              <a:t>CRM de PPS</a:t>
            </a:r>
            <a:endParaRPr>
              <a:solidFill>
                <a:srgbClr val="3B6183"/>
              </a:solidFill>
            </a:endParaRPr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0820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5196B7"/>
                </a:solidFill>
              </a:rPr>
              <a:t>Cernadas Santiago Nicolas</a:t>
            </a:r>
            <a:endParaRPr sz="2000">
              <a:solidFill>
                <a:srgbClr val="5196B7"/>
              </a:solidFill>
            </a:endParaRPr>
          </a:p>
        </p:txBody>
      </p:sp>
      <p:pic>
        <p:nvPicPr>
          <p:cNvPr id="130" name="Google Shape;130;p13" title="Logo-3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0450" y="1099275"/>
            <a:ext cx="4217799" cy="99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3B6183"/>
                </a:solidFill>
              </a:rPr>
              <a:t>Justificación</a:t>
            </a:r>
            <a:endParaRPr>
              <a:solidFill>
                <a:srgbClr val="3B6183"/>
              </a:solidFill>
            </a:endParaRPr>
          </a:p>
        </p:txBody>
      </p:sp>
      <p:sp>
        <p:nvSpPr>
          <p:cNvPr id="136" name="Google Shape;136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196B7"/>
                </a:solidFill>
              </a:rPr>
              <a:t>Actualmente, la empresa Gedco cuenta con un excel llamado “Promesas de Pago” (Una tabla para guardar promesas de pago acordadas con clientes) que se gestiona de manera manual y sin validación alguna a la hora de llenar los campos. Lo cual dificulta y </a:t>
            </a:r>
            <a:r>
              <a:rPr lang="es">
                <a:solidFill>
                  <a:srgbClr val="5196B7"/>
                </a:solidFill>
              </a:rPr>
              <a:t>ralentiza</a:t>
            </a:r>
            <a:r>
              <a:rPr lang="es">
                <a:solidFill>
                  <a:srgbClr val="5196B7"/>
                </a:solidFill>
              </a:rPr>
              <a:t> considerablemente las consultas y modificaciones en la misma.</a:t>
            </a:r>
            <a:endParaRPr>
              <a:solidFill>
                <a:srgbClr val="5196B7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rgbClr val="5196B7"/>
                </a:solidFill>
              </a:rPr>
              <a:t>El proyecto propone desarrollar un sitio web que automatice y mejore la gestión de estas promesas mediante validaciones, filtros y roles de usuario, permitiendo optimizar tiempos, mejorar la accesibilidad y legibilidad de la información y facilitar su consulta y descarga.</a:t>
            </a:r>
            <a:endParaRPr>
              <a:solidFill>
                <a:srgbClr val="5196B7"/>
              </a:solidFill>
            </a:endParaRPr>
          </a:p>
        </p:txBody>
      </p:sp>
      <p:pic>
        <p:nvPicPr>
          <p:cNvPr id="137" name="Google Shape;137;p14" title="125018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1125" y="678475"/>
            <a:ext cx="1121725" cy="112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4"/>
          <p:cNvSpPr/>
          <p:nvPr/>
        </p:nvSpPr>
        <p:spPr>
          <a:xfrm>
            <a:off x="5397600" y="1048533"/>
            <a:ext cx="1085700" cy="38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B618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14" title="193509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8050" y="640225"/>
            <a:ext cx="1198200" cy="119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" name="Google Shape;144;p15"/>
          <p:cNvCxnSpPr/>
          <p:nvPr/>
        </p:nvCxnSpPr>
        <p:spPr>
          <a:xfrm>
            <a:off x="3887316" y="2891394"/>
            <a:ext cx="1527000" cy="6300"/>
          </a:xfrm>
          <a:prstGeom prst="straightConnector1">
            <a:avLst/>
          </a:prstGeom>
          <a:noFill/>
          <a:ln cap="flat" cmpd="sng" w="102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5" name="Google Shape;14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275" y="2211332"/>
            <a:ext cx="3202039" cy="1578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4083" y="2203813"/>
            <a:ext cx="3202042" cy="159336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422852" y="1832300"/>
            <a:ext cx="1726800" cy="1347600"/>
          </a:xfrm>
          <a:prstGeom prst="rect">
            <a:avLst/>
          </a:prstGeom>
        </p:spPr>
        <p:txBody>
          <a:bodyPr anchorCtr="0" anchor="t" bIns="98175" lIns="98175" spcFirstLastPara="1" rIns="98175" wrap="square" tIns="981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89"/>
              </a:spcAft>
              <a:buNone/>
            </a:pPr>
            <a:r>
              <a:rPr lang="es" sz="2000">
                <a:solidFill>
                  <a:srgbClr val="5196B7"/>
                </a:solidFill>
              </a:rPr>
              <a:t>Tabla actual</a:t>
            </a:r>
            <a:endParaRPr sz="2000">
              <a:solidFill>
                <a:srgbClr val="5196B7"/>
              </a:solidFill>
            </a:endParaRPr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6151669" y="1832300"/>
            <a:ext cx="1726800" cy="1347600"/>
          </a:xfrm>
          <a:prstGeom prst="rect">
            <a:avLst/>
          </a:prstGeom>
        </p:spPr>
        <p:txBody>
          <a:bodyPr anchorCtr="0" anchor="t" bIns="98175" lIns="98175" spcFirstLastPara="1" rIns="98175" wrap="square" tIns="981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89"/>
              </a:spcAft>
              <a:buNone/>
            </a:pPr>
            <a:r>
              <a:rPr lang="es" sz="2000">
                <a:solidFill>
                  <a:srgbClr val="5196B7"/>
                </a:solidFill>
              </a:rPr>
              <a:t>Sitio web</a:t>
            </a:r>
            <a:endParaRPr sz="2000">
              <a:solidFill>
                <a:srgbClr val="5196B7"/>
              </a:solidFill>
            </a:endParaRPr>
          </a:p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7883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3B6183"/>
                </a:solidFill>
              </a:rPr>
              <a:t>Justificación</a:t>
            </a:r>
            <a:endParaRPr>
              <a:solidFill>
                <a:srgbClr val="3B618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3B6183"/>
                </a:solidFill>
              </a:rPr>
              <a:t>Objetivos</a:t>
            </a:r>
            <a:endParaRPr>
              <a:solidFill>
                <a:srgbClr val="3B6183"/>
              </a:solidFill>
            </a:endParaRPr>
          </a:p>
        </p:txBody>
      </p:sp>
      <p:sp>
        <p:nvSpPr>
          <p:cNvPr id="155" name="Google Shape;155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196B7"/>
              </a:buClr>
              <a:buSzPts val="1300"/>
              <a:buChar char="●"/>
            </a:pPr>
            <a:r>
              <a:rPr lang="es">
                <a:solidFill>
                  <a:srgbClr val="5196B7"/>
                </a:solidFill>
              </a:rPr>
              <a:t>Desarrollar en su totalidad el sistema web antes de 2026</a:t>
            </a:r>
            <a:endParaRPr>
              <a:solidFill>
                <a:srgbClr val="5196B7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196B7"/>
              </a:buClr>
              <a:buSzPts val="1300"/>
              <a:buChar char="●"/>
            </a:pPr>
            <a:r>
              <a:rPr lang="es">
                <a:solidFill>
                  <a:srgbClr val="5196B7"/>
                </a:solidFill>
              </a:rPr>
              <a:t>Garantizar que el sistema tenga una sección de filtros para búsquedas más específicas</a:t>
            </a:r>
            <a:endParaRPr>
              <a:solidFill>
                <a:srgbClr val="5196B7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196B7"/>
              </a:buClr>
              <a:buSzPts val="1300"/>
              <a:buChar char="●"/>
            </a:pPr>
            <a:r>
              <a:rPr lang="es">
                <a:solidFill>
                  <a:srgbClr val="5196B7"/>
                </a:solidFill>
              </a:rPr>
              <a:t>Contar con 3 roles dentro del sistema (Administrador, Supervisor y Operador)</a:t>
            </a:r>
            <a:endParaRPr>
              <a:solidFill>
                <a:srgbClr val="5196B7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16" title="27894-7-green-tick-transparent-backgrou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7750" y="2078798"/>
            <a:ext cx="276475" cy="22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27894-7-green-tick-transparent-backgrou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3900" y="2305423"/>
            <a:ext cx="276475" cy="22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 title="27894-7-green-tick-transparent-backgrou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1625" y="2532048"/>
            <a:ext cx="276475" cy="22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 title="3d-render-arrow-hit-the-center-of-target-or-goal-of-success-isolated-on-transparent-background-pn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8549" y="2758675"/>
            <a:ext cx="2218800" cy="172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33">
                <a:solidFill>
                  <a:srgbClr val="3B6183"/>
                </a:solidFill>
              </a:rPr>
              <a:t>Alcance</a:t>
            </a:r>
            <a:endParaRPr sz="3333">
              <a:solidFill>
                <a:srgbClr val="3B618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>
                <a:solidFill>
                  <a:srgbClr val="5196B7"/>
                </a:solidFill>
              </a:rPr>
              <a:t>D</a:t>
            </a:r>
            <a:r>
              <a:rPr lang="es">
                <a:solidFill>
                  <a:srgbClr val="5196B7"/>
                </a:solidFill>
              </a:rPr>
              <a:t>esarrollar un sitio web que  mejore y facilite la manipulación de las promesas de pago, mediante validaciones</a:t>
            </a:r>
            <a:r>
              <a:rPr lang="es">
                <a:solidFill>
                  <a:srgbClr val="5196B7"/>
                </a:solidFill>
              </a:rPr>
              <a:t>,</a:t>
            </a:r>
            <a:r>
              <a:rPr lang="es">
                <a:solidFill>
                  <a:srgbClr val="5196B7"/>
                </a:solidFill>
              </a:rPr>
              <a:t> filtros y roles de usuario. El beneficio principal es optimizar el tiempo de búsqueda, mejorar la  legibilidad</a:t>
            </a:r>
            <a:r>
              <a:rPr lang="es">
                <a:solidFill>
                  <a:srgbClr val="5196B7"/>
                </a:solidFill>
              </a:rPr>
              <a:t>,</a:t>
            </a:r>
            <a:r>
              <a:rPr lang="es">
                <a:solidFill>
                  <a:srgbClr val="5196B7"/>
                </a:solidFill>
              </a:rPr>
              <a:t> accesibilidad a la información y contar con un sistema de descarga para su posterior guardado de esta información consultada.</a:t>
            </a:r>
            <a:endParaRPr>
              <a:solidFill>
                <a:srgbClr val="5196B7"/>
              </a:solidFill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3672850" y="3126125"/>
            <a:ext cx="1232100" cy="9393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 flipH="1">
            <a:off x="4957075" y="3813525"/>
            <a:ext cx="794700" cy="5559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>
                <a:solidFill>
                  <a:srgbClr val="3B6183"/>
                </a:solidFill>
              </a:rPr>
              <a:t>Entregables</a:t>
            </a:r>
            <a:endParaRPr>
              <a:solidFill>
                <a:srgbClr val="3B618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700"/>
          </a:p>
        </p:txBody>
      </p:sp>
      <p:sp>
        <p:nvSpPr>
          <p:cNvPr id="173" name="Google Shape;173;p1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196B7"/>
              </a:buClr>
              <a:buSzPts val="1300"/>
              <a:buChar char="●"/>
            </a:pPr>
            <a:r>
              <a:rPr lang="es">
                <a:solidFill>
                  <a:srgbClr val="5196B7"/>
                </a:solidFill>
              </a:rPr>
              <a:t>Diseño de la </a:t>
            </a:r>
            <a:r>
              <a:rPr lang="es">
                <a:solidFill>
                  <a:srgbClr val="5196B7"/>
                </a:solidFill>
              </a:rPr>
              <a:t>página</a:t>
            </a:r>
            <a:endParaRPr>
              <a:solidFill>
                <a:srgbClr val="5196B7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196B7"/>
              </a:buClr>
              <a:buSzPts val="1300"/>
              <a:buChar char="●"/>
            </a:pPr>
            <a:r>
              <a:rPr lang="es">
                <a:solidFill>
                  <a:srgbClr val="5196B7"/>
                </a:solidFill>
              </a:rPr>
              <a:t>Módulo de gestión de promesas de pago (crear, visualizar, modificar, eliminar).</a:t>
            </a:r>
            <a:endParaRPr>
              <a:solidFill>
                <a:srgbClr val="5196B7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196B7"/>
              </a:buClr>
              <a:buSzPts val="1300"/>
              <a:buChar char="●"/>
            </a:pPr>
            <a:r>
              <a:rPr lang="es">
                <a:solidFill>
                  <a:srgbClr val="5196B7"/>
                </a:solidFill>
              </a:rPr>
              <a:t>Sistema Login</a:t>
            </a:r>
            <a:r>
              <a:rPr lang="es">
                <a:solidFill>
                  <a:srgbClr val="5196B7"/>
                </a:solidFill>
              </a:rPr>
              <a:t>.</a:t>
            </a:r>
            <a:endParaRPr>
              <a:solidFill>
                <a:srgbClr val="5196B7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196B7"/>
              </a:buClr>
              <a:buSzPts val="1300"/>
              <a:buChar char="●"/>
            </a:pPr>
            <a:r>
              <a:rPr lang="es">
                <a:solidFill>
                  <a:srgbClr val="5196B7"/>
                </a:solidFill>
              </a:rPr>
              <a:t>Filtros para la consulta de promesas.</a:t>
            </a:r>
            <a:endParaRPr>
              <a:solidFill>
                <a:srgbClr val="5196B7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196B7"/>
              </a:buClr>
              <a:buSzPts val="1300"/>
              <a:buChar char="●"/>
            </a:pPr>
            <a:r>
              <a:rPr lang="es">
                <a:solidFill>
                  <a:srgbClr val="5196B7"/>
                </a:solidFill>
              </a:rPr>
              <a:t>Sección de estadísticas y descarga de tabla filtrada en formato excel.</a:t>
            </a:r>
            <a:endParaRPr>
              <a:solidFill>
                <a:srgbClr val="5196B7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196B7"/>
              </a:buClr>
              <a:buSzPts val="1300"/>
              <a:buChar char="●"/>
            </a:pPr>
            <a:r>
              <a:rPr lang="es">
                <a:solidFill>
                  <a:srgbClr val="5196B7"/>
                </a:solidFill>
              </a:rPr>
              <a:t>Documentación técnica y manual de usuario.</a:t>
            </a:r>
            <a:endParaRPr>
              <a:solidFill>
                <a:srgbClr val="5196B7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196B7"/>
              </a:buClr>
              <a:buSzPts val="1300"/>
              <a:buChar char="●"/>
            </a:pPr>
            <a:r>
              <a:rPr lang="es">
                <a:solidFill>
                  <a:srgbClr val="5196B7"/>
                </a:solidFill>
              </a:rPr>
              <a:t>Módulo de gestión de usuarios para el rol Admin(crear, visualizar, modificar y eliminar).</a:t>
            </a:r>
            <a:endParaRPr>
              <a:solidFill>
                <a:srgbClr val="5196B7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18" title="27894-7-green-tick-transparent-backgrou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5500" y="2086498"/>
            <a:ext cx="276475" cy="22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title="27894-7-green-tick-transparent-backgrou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0200" y="2313123"/>
            <a:ext cx="276475" cy="22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title="27894-7-green-tick-transparent-backgrou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9025" y="2539748"/>
            <a:ext cx="276475" cy="22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title="27894-7-green-tick-transparent-backgrou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4500" y="2766373"/>
            <a:ext cx="276475" cy="22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title="27894-7-green-tick-transparent-backgrou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3375" y="2992998"/>
            <a:ext cx="276475" cy="22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title="27894-7-green-tick-transparent-backgrou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8175" y="3219623"/>
            <a:ext cx="276475" cy="22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title="27894-7-green-tick-transparent-backgrou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8350" y="3446248"/>
            <a:ext cx="276475" cy="22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8" title="images 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8137" y="642600"/>
            <a:ext cx="1360600" cy="136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lang="es">
                <a:solidFill>
                  <a:srgbClr val="3B6183"/>
                </a:solidFill>
              </a:rPr>
              <a:t>Exclusiones</a:t>
            </a:r>
            <a:endParaRPr>
              <a:solidFill>
                <a:srgbClr val="3B618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700"/>
          </a:p>
        </p:txBody>
      </p:sp>
      <p:sp>
        <p:nvSpPr>
          <p:cNvPr id="187" name="Google Shape;187;p19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196B7"/>
              </a:buClr>
              <a:buSzPts val="1300"/>
              <a:buChar char="●"/>
            </a:pPr>
            <a:r>
              <a:rPr lang="es">
                <a:solidFill>
                  <a:srgbClr val="5196B7"/>
                </a:solidFill>
              </a:rPr>
              <a:t>Se busca que la página sea útil y accesible desde computadoras utilizadas por la empresa por lo que el sitio web no </a:t>
            </a:r>
            <a:r>
              <a:rPr lang="es">
                <a:solidFill>
                  <a:srgbClr val="5196B7"/>
                </a:solidFill>
              </a:rPr>
              <a:t>tendrá</a:t>
            </a:r>
            <a:r>
              <a:rPr lang="es">
                <a:solidFill>
                  <a:srgbClr val="5196B7"/>
                </a:solidFill>
              </a:rPr>
              <a:t> un diseño adaptado a dispositivos </a:t>
            </a:r>
            <a:r>
              <a:rPr lang="es">
                <a:solidFill>
                  <a:srgbClr val="5196B7"/>
                </a:solidFill>
              </a:rPr>
              <a:t>móviles</a:t>
            </a:r>
            <a:r>
              <a:rPr lang="es">
                <a:solidFill>
                  <a:srgbClr val="5196B7"/>
                </a:solidFill>
              </a:rPr>
              <a:t>.</a:t>
            </a:r>
            <a:endParaRPr>
              <a:solidFill>
                <a:srgbClr val="5196B7"/>
              </a:solidFill>
            </a:endParaRPr>
          </a:p>
        </p:txBody>
      </p:sp>
      <p:pic>
        <p:nvPicPr>
          <p:cNvPr id="188" name="Google Shape;188;p19" title="red-cross-wrong-symbol-incorrect-sign-error-in-circle-vecto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2075" y="2983450"/>
            <a:ext cx="1455276" cy="1455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lang="es">
                <a:solidFill>
                  <a:srgbClr val="3B6183"/>
                </a:solidFill>
              </a:rPr>
              <a:t>Beneficios esperados</a:t>
            </a:r>
            <a:endParaRPr>
              <a:solidFill>
                <a:srgbClr val="3B618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700"/>
          </a:p>
        </p:txBody>
      </p:sp>
      <p:sp>
        <p:nvSpPr>
          <p:cNvPr id="194" name="Google Shape;194;p20"/>
          <p:cNvSpPr txBox="1"/>
          <p:nvPr>
            <p:ph idx="1" type="body"/>
          </p:nvPr>
        </p:nvSpPr>
        <p:spPr>
          <a:xfrm>
            <a:off x="8114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196B7"/>
              </a:buClr>
              <a:buSzPts val="1300"/>
              <a:buChar char="●"/>
            </a:pPr>
            <a:r>
              <a:rPr lang="es">
                <a:solidFill>
                  <a:srgbClr val="5196B7"/>
                </a:solidFill>
              </a:rPr>
              <a:t>Tiempo promedio de búsqueda reducido considerablemente.</a:t>
            </a:r>
            <a:endParaRPr>
              <a:solidFill>
                <a:srgbClr val="5196B7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196B7"/>
              </a:buClr>
              <a:buSzPts val="1300"/>
              <a:buChar char="●"/>
            </a:pPr>
            <a:r>
              <a:rPr lang="es">
                <a:solidFill>
                  <a:srgbClr val="5196B7"/>
                </a:solidFill>
              </a:rPr>
              <a:t>Encapsulación de promesas de pago </a:t>
            </a:r>
            <a:endParaRPr>
              <a:solidFill>
                <a:srgbClr val="5196B7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196B7"/>
              </a:buClr>
              <a:buSzPts val="1300"/>
              <a:buChar char="●"/>
            </a:pPr>
            <a:r>
              <a:rPr lang="es">
                <a:solidFill>
                  <a:srgbClr val="5196B7"/>
                </a:solidFill>
              </a:rPr>
              <a:t>Descarga de la información para su persistencia en el ordenador del usuario.</a:t>
            </a:r>
            <a:endParaRPr>
              <a:solidFill>
                <a:srgbClr val="5196B7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196B7"/>
              </a:buClr>
              <a:buSzPts val="1300"/>
              <a:buChar char="●"/>
            </a:pPr>
            <a:r>
              <a:rPr lang="es">
                <a:solidFill>
                  <a:srgbClr val="5196B7"/>
                </a:solidFill>
              </a:rPr>
              <a:t>Pasar la información de una tabla de excel a una base de datos consolidada.</a:t>
            </a:r>
            <a:endParaRPr>
              <a:solidFill>
                <a:srgbClr val="5196B7"/>
              </a:solidFill>
            </a:endParaRPr>
          </a:p>
        </p:txBody>
      </p:sp>
      <p:pic>
        <p:nvPicPr>
          <p:cNvPr id="195" name="Google Shape;195;p20" title="56349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7200" y="2610250"/>
            <a:ext cx="1659075" cy="165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lang="es">
                <a:solidFill>
                  <a:srgbClr val="3B6183"/>
                </a:solidFill>
              </a:rPr>
              <a:t>Riesgos</a:t>
            </a:r>
            <a:endParaRPr>
              <a:solidFill>
                <a:srgbClr val="3B618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700"/>
          </a:p>
        </p:txBody>
      </p:sp>
      <p:sp>
        <p:nvSpPr>
          <p:cNvPr id="201" name="Google Shape;201;p21"/>
          <p:cNvSpPr txBox="1"/>
          <p:nvPr>
            <p:ph idx="1" type="body"/>
          </p:nvPr>
        </p:nvSpPr>
        <p:spPr>
          <a:xfrm>
            <a:off x="338500" y="1551825"/>
            <a:ext cx="8405400" cy="336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5196B7"/>
                </a:solidFill>
              </a:rPr>
              <a:t>Nro de clasificación: 1         Estado: Cerrado       Probabilidad: Muy Alta        Impacto: Alto</a:t>
            </a:r>
            <a:endParaRPr b="1">
              <a:solidFill>
                <a:srgbClr val="5196B7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5196B7"/>
              </a:buClr>
              <a:buSzPts val="1300"/>
              <a:buChar char="●"/>
            </a:pPr>
            <a:r>
              <a:rPr lang="es">
                <a:solidFill>
                  <a:srgbClr val="5196B7"/>
                </a:solidFill>
              </a:rPr>
              <a:t>Riesgo: </a:t>
            </a:r>
            <a:r>
              <a:rPr lang="es">
                <a:solidFill>
                  <a:srgbClr val="5196B7"/>
                </a:solidFill>
              </a:rPr>
              <a:t>Una sola persona realizando el proyecto</a:t>
            </a:r>
            <a:r>
              <a:rPr lang="es">
                <a:solidFill>
                  <a:srgbClr val="5196B7"/>
                </a:solidFill>
              </a:rPr>
              <a:t>.</a:t>
            </a:r>
            <a:endParaRPr>
              <a:solidFill>
                <a:srgbClr val="5196B7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196B7"/>
              </a:buClr>
              <a:buSzPts val="1300"/>
              <a:buChar char="●"/>
            </a:pPr>
            <a:r>
              <a:rPr lang="es">
                <a:solidFill>
                  <a:srgbClr val="5196B7"/>
                </a:solidFill>
              </a:rPr>
              <a:t>Plan de mitigación: Utilizar </a:t>
            </a:r>
            <a:r>
              <a:rPr lang="es">
                <a:solidFill>
                  <a:srgbClr val="5196B7"/>
                </a:solidFill>
              </a:rPr>
              <a:t>únicamente</a:t>
            </a:r>
            <a:r>
              <a:rPr lang="es">
                <a:solidFill>
                  <a:srgbClr val="5196B7"/>
                </a:solidFill>
              </a:rPr>
              <a:t> herramientas </a:t>
            </a:r>
            <a:r>
              <a:rPr lang="es">
                <a:solidFill>
                  <a:srgbClr val="5196B7"/>
                </a:solidFill>
              </a:rPr>
              <a:t>tecnologías</a:t>
            </a:r>
            <a:r>
              <a:rPr lang="es">
                <a:solidFill>
                  <a:srgbClr val="5196B7"/>
                </a:solidFill>
              </a:rPr>
              <a:t> con conocimiento para el proyecto</a:t>
            </a:r>
            <a:endParaRPr>
              <a:solidFill>
                <a:srgbClr val="5196B7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196B7"/>
              </a:buClr>
              <a:buSzPts val="1300"/>
              <a:buChar char="●"/>
            </a:pPr>
            <a:r>
              <a:rPr lang="es">
                <a:solidFill>
                  <a:srgbClr val="5196B7"/>
                </a:solidFill>
              </a:rPr>
              <a:t>Plan de contingencia: Se </a:t>
            </a:r>
            <a:r>
              <a:rPr lang="es">
                <a:solidFill>
                  <a:srgbClr val="5196B7"/>
                </a:solidFill>
              </a:rPr>
              <a:t>solicitará</a:t>
            </a:r>
            <a:r>
              <a:rPr lang="es">
                <a:solidFill>
                  <a:srgbClr val="5196B7"/>
                </a:solidFill>
              </a:rPr>
              <a:t> apoyo a: otros desarrolladores, documentación, videos tutoriales, etc.</a:t>
            </a:r>
            <a:endParaRPr>
              <a:solidFill>
                <a:srgbClr val="5196B7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5196B7"/>
                </a:solidFill>
              </a:rPr>
              <a:t>Nro de clasificación: 2         Estado: Cerrado       Probabilidad: Muy Alta       Impacto: Bajo</a:t>
            </a:r>
            <a:endParaRPr b="1">
              <a:solidFill>
                <a:srgbClr val="5196B7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5196B7"/>
              </a:buClr>
              <a:buSzPts val="1300"/>
              <a:buChar char="●"/>
            </a:pPr>
            <a:r>
              <a:rPr lang="es">
                <a:solidFill>
                  <a:srgbClr val="5196B7"/>
                </a:solidFill>
              </a:rPr>
              <a:t>Riesgo: Reuniones limitadas.</a:t>
            </a:r>
            <a:endParaRPr>
              <a:solidFill>
                <a:srgbClr val="5196B7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196B7"/>
              </a:buClr>
              <a:buSzPts val="1300"/>
              <a:buChar char="●"/>
            </a:pPr>
            <a:r>
              <a:rPr lang="es">
                <a:solidFill>
                  <a:srgbClr val="5196B7"/>
                </a:solidFill>
              </a:rPr>
              <a:t>Plan de mitigación: Postergar reuniones acordadas que no sean posibles de realizar en el momento</a:t>
            </a:r>
            <a:endParaRPr>
              <a:solidFill>
                <a:srgbClr val="5196B7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196B7"/>
              </a:buClr>
              <a:buSzPts val="1300"/>
              <a:buChar char="●"/>
            </a:pPr>
            <a:r>
              <a:rPr lang="es">
                <a:solidFill>
                  <a:srgbClr val="5196B7"/>
                </a:solidFill>
              </a:rPr>
              <a:t>Plan de contingencia: Realizar reuniones fuera del horario laboral.</a:t>
            </a:r>
            <a:endParaRPr>
              <a:solidFill>
                <a:srgbClr val="5196B7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5196B7"/>
                </a:solidFill>
              </a:rPr>
              <a:t>Nro de clasificación: 3         Estado: Cerrado       Probabilidad: Muy Baja     Impacto: Muy alto</a:t>
            </a:r>
            <a:endParaRPr b="1">
              <a:solidFill>
                <a:srgbClr val="5196B7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5196B7"/>
              </a:buClr>
              <a:buSzPts val="1300"/>
              <a:buChar char="●"/>
            </a:pPr>
            <a:r>
              <a:rPr lang="es">
                <a:solidFill>
                  <a:srgbClr val="5196B7"/>
                </a:solidFill>
              </a:rPr>
              <a:t>Riesgo: Nuevo requerimiento.</a:t>
            </a:r>
            <a:endParaRPr>
              <a:solidFill>
                <a:srgbClr val="5196B7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196B7"/>
              </a:buClr>
              <a:buSzPts val="1300"/>
              <a:buChar char="●"/>
            </a:pPr>
            <a:r>
              <a:rPr lang="es">
                <a:solidFill>
                  <a:srgbClr val="5196B7"/>
                </a:solidFill>
              </a:rPr>
              <a:t>Plan de mitigación: Consultar la posibilidad de realizarlo al finalizar el proyecto.</a:t>
            </a:r>
            <a:endParaRPr>
              <a:solidFill>
                <a:srgbClr val="5196B7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196B7"/>
              </a:buClr>
              <a:buSzPts val="1300"/>
              <a:buChar char="●"/>
            </a:pPr>
            <a:r>
              <a:rPr lang="es">
                <a:solidFill>
                  <a:srgbClr val="5196B7"/>
                </a:solidFill>
              </a:rPr>
              <a:t>Plan de contingencia: Priorizar nuevo requerimiento</a:t>
            </a:r>
            <a:endParaRPr>
              <a:solidFill>
                <a:srgbClr val="5196B7"/>
              </a:solidFill>
            </a:endParaRPr>
          </a:p>
        </p:txBody>
      </p:sp>
      <p:pic>
        <p:nvPicPr>
          <p:cNvPr id="202" name="Google Shape;202;p21" title="55013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7750" y="379425"/>
            <a:ext cx="1172401" cy="1172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lang="es">
                <a:solidFill>
                  <a:srgbClr val="3B6183"/>
                </a:solidFill>
              </a:rPr>
              <a:t>Documentación</a:t>
            </a:r>
            <a:endParaRPr>
              <a:solidFill>
                <a:srgbClr val="3B618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700"/>
          </a:p>
        </p:txBody>
      </p:sp>
      <p:sp>
        <p:nvSpPr>
          <p:cNvPr id="208" name="Google Shape;208;p22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196B7"/>
                </a:solidFill>
              </a:rPr>
              <a:t>En el </a:t>
            </a:r>
            <a:r>
              <a:rPr lang="es" u="sng">
                <a:solidFill>
                  <a:schemeClr val="hlink"/>
                </a:solidFill>
                <a:hlinkClick r:id="rId3"/>
              </a:rPr>
              <a:t>repositorio del proyecto</a:t>
            </a:r>
            <a:r>
              <a:rPr lang="es">
                <a:solidFill>
                  <a:srgbClr val="5196B7"/>
                </a:solidFill>
              </a:rPr>
              <a:t> se puede encontrar toda la documentación del mismo en la carpeta “Documentos”. Contiene:</a:t>
            </a:r>
            <a:endParaRPr>
              <a:solidFill>
                <a:srgbClr val="5196B7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5196B7"/>
              </a:buClr>
              <a:buSzPts val="1300"/>
              <a:buChar char="●"/>
            </a:pPr>
            <a:r>
              <a:rPr lang="es">
                <a:solidFill>
                  <a:srgbClr val="5196B7"/>
                </a:solidFill>
              </a:rPr>
              <a:t>Documentación Técnica</a:t>
            </a:r>
            <a:endParaRPr>
              <a:solidFill>
                <a:srgbClr val="5196B7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196B7"/>
              </a:buClr>
              <a:buSzPts val="1300"/>
              <a:buChar char="●"/>
            </a:pPr>
            <a:r>
              <a:rPr lang="es">
                <a:solidFill>
                  <a:srgbClr val="5196B7"/>
                </a:solidFill>
              </a:rPr>
              <a:t>Documento de Reuniones</a:t>
            </a:r>
            <a:endParaRPr>
              <a:solidFill>
                <a:srgbClr val="5196B7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196B7"/>
              </a:buClr>
              <a:buSzPts val="1300"/>
              <a:buChar char="●"/>
            </a:pPr>
            <a:r>
              <a:rPr lang="es">
                <a:solidFill>
                  <a:srgbClr val="5196B7"/>
                </a:solidFill>
              </a:rPr>
              <a:t>Manuales de usuario</a:t>
            </a:r>
            <a:endParaRPr>
              <a:solidFill>
                <a:srgbClr val="5196B7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196B7"/>
              </a:buClr>
              <a:buSzPts val="1300"/>
              <a:buChar char="●"/>
            </a:pPr>
            <a:r>
              <a:rPr lang="es">
                <a:solidFill>
                  <a:srgbClr val="5196B7"/>
                </a:solidFill>
              </a:rPr>
              <a:t>Diagramas que representan el funcionamiento del sistema</a:t>
            </a:r>
            <a:endParaRPr>
              <a:solidFill>
                <a:srgbClr val="5196B7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196B7"/>
              </a:buClr>
              <a:buSzPts val="1300"/>
              <a:buChar char="●"/>
            </a:pPr>
            <a:r>
              <a:rPr lang="es">
                <a:solidFill>
                  <a:srgbClr val="5196B7"/>
                </a:solidFill>
              </a:rPr>
              <a:t>Requerimientos</a:t>
            </a:r>
            <a:endParaRPr>
              <a:solidFill>
                <a:srgbClr val="5196B7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196B7"/>
              </a:buClr>
              <a:buSzPts val="1300"/>
              <a:buChar char="●"/>
            </a:pPr>
            <a:r>
              <a:rPr lang="es">
                <a:solidFill>
                  <a:srgbClr val="5196B7"/>
                </a:solidFill>
              </a:rPr>
              <a:t>Acta del proyecto</a:t>
            </a:r>
            <a:endParaRPr>
              <a:solidFill>
                <a:srgbClr val="5196B7"/>
              </a:solidFill>
            </a:endParaRPr>
          </a:p>
        </p:txBody>
      </p:sp>
      <p:pic>
        <p:nvPicPr>
          <p:cNvPr id="209" name="Google Shape;20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8900" y="2571750"/>
            <a:ext cx="2865950" cy="151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2" title="19579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31225" y="470600"/>
            <a:ext cx="1329600" cy="13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3B6183"/>
                </a:solidFill>
              </a:rPr>
              <a:t>Demostración del proyecto</a:t>
            </a:r>
            <a:endParaRPr>
              <a:solidFill>
                <a:srgbClr val="3B6183"/>
              </a:solidFill>
            </a:endParaRPr>
          </a:p>
        </p:txBody>
      </p:sp>
      <p:pic>
        <p:nvPicPr>
          <p:cNvPr id="216" name="Google Shape;216;p23" title="306728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375" y="1882850"/>
            <a:ext cx="1375800" cy="137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3" title="306728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5550" y="1883850"/>
            <a:ext cx="1375800" cy="137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lang="es">
                <a:solidFill>
                  <a:srgbClr val="3B6183"/>
                </a:solidFill>
              </a:rPr>
              <a:t>Conclusiones</a:t>
            </a:r>
            <a:endParaRPr>
              <a:solidFill>
                <a:srgbClr val="3B618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700"/>
          </a:p>
        </p:txBody>
      </p:sp>
      <p:sp>
        <p:nvSpPr>
          <p:cNvPr id="223" name="Google Shape;223;p2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196B7"/>
                </a:solidFill>
              </a:rPr>
              <a:t>Este proyecto permite mejorar significativamente la gestión de promesas de pago dentro de Gedco, reemplazando una tabla de excel por un sistema web más ordenado, seguro y eficiente. La incorporación de validaciones, filtros avanzados y control de roles reduce errores, agiliza las consultas y mejora el acceso a la información.</a:t>
            </a:r>
            <a:endParaRPr>
              <a:solidFill>
                <a:srgbClr val="5196B7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rgbClr val="5196B7"/>
                </a:solidFill>
              </a:rPr>
              <a:t>El sistema no solo responde a una necesidad concreta, sino que también representa un avance en la digitalización y mejora de los procesos internos de la organización. Se espera que con esta implementación también se aliente a automatizar otras tareas.</a:t>
            </a:r>
            <a:endParaRPr>
              <a:solidFill>
                <a:srgbClr val="5196B7"/>
              </a:solidFill>
            </a:endParaRPr>
          </a:p>
        </p:txBody>
      </p:sp>
      <p:pic>
        <p:nvPicPr>
          <p:cNvPr id="224" name="Google Shape;224;p24" title="262269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9963" y="476300"/>
            <a:ext cx="1514426" cy="1514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lang="es">
                <a:solidFill>
                  <a:srgbClr val="3B6183"/>
                </a:solidFill>
              </a:rPr>
              <a:t>Conclusiones Personales</a:t>
            </a:r>
            <a:endParaRPr>
              <a:solidFill>
                <a:srgbClr val="3B618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700"/>
          </a:p>
        </p:txBody>
      </p:sp>
      <p:sp>
        <p:nvSpPr>
          <p:cNvPr id="230" name="Google Shape;230;p2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196B7"/>
              </a:buClr>
              <a:buSzPts val="1300"/>
              <a:buChar char="●"/>
            </a:pPr>
            <a:r>
              <a:rPr lang="es">
                <a:solidFill>
                  <a:srgbClr val="5196B7"/>
                </a:solidFill>
              </a:rPr>
              <a:t>El tiempo de otros es oro, cada </a:t>
            </a:r>
            <a:r>
              <a:rPr lang="es">
                <a:solidFill>
                  <a:srgbClr val="5196B7"/>
                </a:solidFill>
              </a:rPr>
              <a:t>reunión</a:t>
            </a:r>
            <a:r>
              <a:rPr lang="es">
                <a:solidFill>
                  <a:srgbClr val="5196B7"/>
                </a:solidFill>
              </a:rPr>
              <a:t> cuenta y hay que sacarle el provecho a cada minuto.</a:t>
            </a:r>
            <a:endParaRPr>
              <a:solidFill>
                <a:srgbClr val="5196B7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196B7"/>
              </a:buClr>
              <a:buSzPts val="1300"/>
              <a:buChar char="●"/>
            </a:pPr>
            <a:r>
              <a:rPr lang="es">
                <a:solidFill>
                  <a:srgbClr val="5196B7"/>
                </a:solidFill>
              </a:rPr>
              <a:t>Que un proyecto sea de valor es igual de valioso que sea </a:t>
            </a:r>
            <a:r>
              <a:rPr lang="es">
                <a:solidFill>
                  <a:srgbClr val="5196B7"/>
                </a:solidFill>
              </a:rPr>
              <a:t>funcional. La lógica de negocio pesa igual que la lógica del código.</a:t>
            </a:r>
            <a:endParaRPr>
              <a:solidFill>
                <a:srgbClr val="5196B7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196B7"/>
              </a:buClr>
              <a:buSzPts val="1300"/>
              <a:buChar char="●"/>
            </a:pPr>
            <a:r>
              <a:rPr lang="es">
                <a:solidFill>
                  <a:srgbClr val="5196B7"/>
                </a:solidFill>
              </a:rPr>
              <a:t>Pensar en la escalabilidad del proyecto desde el inicio es la mejor opción pensando a futuro.</a:t>
            </a:r>
            <a:endParaRPr>
              <a:solidFill>
                <a:srgbClr val="5196B7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196B7"/>
              </a:buClr>
              <a:buSzPts val="1300"/>
              <a:buChar char="●"/>
            </a:pPr>
            <a:r>
              <a:rPr lang="es">
                <a:solidFill>
                  <a:srgbClr val="5196B7"/>
                </a:solidFill>
              </a:rPr>
              <a:t>La IA es una gran herramienta de ayuda siempre y cuando se utilice correctamente.</a:t>
            </a:r>
            <a:endParaRPr>
              <a:solidFill>
                <a:srgbClr val="5196B7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5196B7"/>
              </a:buClr>
              <a:buSzPts val="1300"/>
              <a:buChar char="●"/>
            </a:pPr>
            <a:r>
              <a:rPr lang="es">
                <a:solidFill>
                  <a:srgbClr val="5196B7"/>
                </a:solidFill>
              </a:rPr>
              <a:t>Un proyecto full stack demanda mucho más tiempo y esfuerzo de lo pensado, me </a:t>
            </a:r>
            <a:r>
              <a:rPr lang="es">
                <a:solidFill>
                  <a:srgbClr val="5196B7"/>
                </a:solidFill>
              </a:rPr>
              <a:t>encantaría</a:t>
            </a:r>
            <a:r>
              <a:rPr lang="es">
                <a:solidFill>
                  <a:srgbClr val="5196B7"/>
                </a:solidFill>
              </a:rPr>
              <a:t> hacer más proyectos grupales a futuro.</a:t>
            </a:r>
            <a:endParaRPr>
              <a:solidFill>
                <a:srgbClr val="5196B7"/>
              </a:solidFill>
            </a:endParaRPr>
          </a:p>
        </p:txBody>
      </p:sp>
      <p:pic>
        <p:nvPicPr>
          <p:cNvPr id="231" name="Google Shape;231;p25" title="262269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9963" y="476300"/>
            <a:ext cx="1514426" cy="1514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"/>
          <p:cNvSpPr txBox="1"/>
          <p:nvPr>
            <p:ph type="ctrTitle"/>
          </p:nvPr>
        </p:nvSpPr>
        <p:spPr>
          <a:xfrm>
            <a:off x="1891353" y="20954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3B6183"/>
                </a:solidFill>
              </a:rPr>
              <a:t>¡Muchas gracias!</a:t>
            </a:r>
            <a:endParaRPr>
              <a:solidFill>
                <a:srgbClr val="3B6183"/>
              </a:solidFill>
            </a:endParaRPr>
          </a:p>
        </p:txBody>
      </p:sp>
      <p:pic>
        <p:nvPicPr>
          <p:cNvPr id="237" name="Google Shape;237;p26" title="Logo-3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0450" y="1099275"/>
            <a:ext cx="4217799" cy="99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